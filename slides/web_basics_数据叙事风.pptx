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047750"/>
            <a:ext cx="823874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750" b="1" dirty="0">
                <a:solidFill>
                  <a:srgbClr val="1A365D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web_basics</a:t>
            </a:r>
            <a:endParaRPr lang="en-US" sz="3750" dirty="0"/>
          </a:p>
        </p:txBody>
      </p:sp>
      <p:sp>
        <p:nvSpPr>
          <p:cNvPr id="4" name="Text 2"/>
          <p:cNvSpPr/>
          <p:nvPr/>
        </p:nvSpPr>
        <p:spPr>
          <a:xfrm>
            <a:off x="533400" y="17526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943100"/>
            <a:ext cx="8238744" cy="38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时代 · web 技术栈基础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533650"/>
            <a:ext cx="8238744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你不用手写代码——但要看懂它写了什么、读得懂报错、知道每层是什么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33400" y="31051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UNDERSTAND THE STACK · DIRECT THE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2_dev_deploy_guide 前置基础包 · 面向零 web 基础的心理与教育学生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 · WHY LEARN THIS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替你写代码,但看不懂 = 指挥不动、也救不回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38300"/>
            <a:ext cx="2571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38300"/>
            <a:ext cx="38100" cy="14287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读得懂 Claude Code 写了什么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它生成一堆文件,你至少知道每个是干嘛的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38300"/>
            <a:ext cx="2571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38300"/>
            <a:ext cx="38100" cy="14287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会指挥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把需求说到点子上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知道该说"改后端"还是"改前端"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38300"/>
            <a:ext cx="2571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38300"/>
            <a:ext cx="38100" cy="14287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能排错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报错时看得懂、救得回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白屏/404/CORS 时不抓瞎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200400"/>
            <a:ext cx="8077200" cy="76200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3333750"/>
            <a:ext cx="78889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编程已是主流:2026 年约 90% 开发者每天用 AI 工具(Claude Code / Cursor / v0 / bolt / Lovable)。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04850" y="3600450"/>
            <a:ext cx="78889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工作流变了:AI 生成,你审阅+指挥。所以「看懂」比「会手写」更重要。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01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 是怎么运作的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从你输入网址,到页面出现,发生了什么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先建立全局心智模型,后面每一层才有位置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 · 一次请求的旅程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你输入网址,到页面出现:6 步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12668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28650" y="1809750"/>
            <a:ext cx="11367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8650" y="2133600"/>
            <a:ext cx="1136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输网址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28650" y="2419350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你在浏览器敲 URL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781175" y="2266950"/>
            <a:ext cx="1360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895475" y="1676400"/>
            <a:ext cx="12668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990725" y="1809750"/>
            <a:ext cx="11367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990725" y="2133600"/>
            <a:ext cx="1136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查地址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990725" y="2419350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DNS 把域名翻成 IP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3143250" y="2266950"/>
            <a:ext cx="1360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3257550" y="1676400"/>
            <a:ext cx="12668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52800" y="1809750"/>
            <a:ext cx="11367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352800" y="2133600"/>
            <a:ext cx="1136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发请求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52800" y="2419350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浏览器向服务器要页面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505325" y="2266950"/>
            <a:ext cx="1360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4619625" y="1676400"/>
            <a:ext cx="12668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14875" y="1809750"/>
            <a:ext cx="11367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14875" y="2133600"/>
            <a:ext cx="1136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服务器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4714875" y="2419350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后端处理、返回内容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5867400" y="2266950"/>
            <a:ext cx="1360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5981700" y="1676400"/>
            <a:ext cx="12668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076950" y="1809750"/>
            <a:ext cx="11367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076950" y="2133600"/>
            <a:ext cx="1136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传回来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6076950" y="2419350"/>
            <a:ext cx="11367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 响应回到浏览器</a:t>
            </a:r>
            <a:endParaRPr lang="en-US" sz="825" dirty="0"/>
          </a:p>
        </p:txBody>
      </p:sp>
      <p:sp>
        <p:nvSpPr>
          <p:cNvPr id="29" name="Text 27"/>
          <p:cNvSpPr/>
          <p:nvPr/>
        </p:nvSpPr>
        <p:spPr>
          <a:xfrm>
            <a:off x="7229475" y="2266950"/>
            <a:ext cx="136017" cy="192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19"/>
              </a:lnSpc>
              <a:buNone/>
            </a:pPr>
            <a:r>
              <a:rPr lang="en-US" sz="11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7343775" y="1676400"/>
            <a:ext cx="1266825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439025" y="1809750"/>
            <a:ext cx="113671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50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439025" y="2133600"/>
            <a:ext cx="1136714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1"/>
              </a:lnSpc>
              <a:buNone/>
            </a:pPr>
            <a:r>
              <a:rPr lang="en-US" sz="97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渲染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7439025" y="2419350"/>
            <a:ext cx="1136714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浏览器画成你看到的页面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33400" y="3333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这趟旅程每天在你每次点开网页时发生无数次——记住它,报错时就知道卡在哪一步。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 · 客户端 VS 服务器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前端在你的浏览器里跑,后端在远处的服务器上跑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客户端 CLIENT(前端)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就是你的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(Chrome/Safari)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 HTML/CSS/JS,画出界面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公开的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:谁都能看源码 → 绝不放 key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服务器 SERVER(后端)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一台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一直开机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的远程电脑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跑你的 agent 逻辑、藏 key、连模型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私密的</a:t>
            </a:r>
            <a:pPr algn="l" indent="0" marL="0">
              <a:lnSpc>
                <a:spcPts val="1849"/>
              </a:lnSpc>
              <a:spcAft>
                <a:spcPts val="300"/>
              </a:spcAft>
              <a:buNone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:用户看不到里面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533400" y="4095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回忆 2_dev_deploy 的三层架构:前端(浏览器)→ 后端(服务器)→ 模型。现在你懂前两层住在哪了。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W1 · HTTP · 静态 VS 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网页分两种:发好的文件 vs 现场算出来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38300"/>
            <a:ext cx="2571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38300"/>
            <a:ext cx="38100" cy="14287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HTTP(S)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浏览器和服务器的对话规矩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请求-响应;S=加密,现在都用 https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38300"/>
            <a:ext cx="2571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38300"/>
            <a:ext cx="38100" cy="142875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静态 STATIC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只发写好的文件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展示页/作品集 → GitHub Pages 免费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38300"/>
            <a:ext cx="257175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38300"/>
            <a:ext cx="38100" cy="14287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 DYNAMIC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服务器现场生成/调模型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能对话的 agent → 要后端(Railway)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219450"/>
            <a:ext cx="8077200" cy="7429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3352800"/>
            <a:ext cx="78889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域名(domain):yourname.github.io 这种人类好记的地址;DNS 负责把它翻译成机器认的 IP。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04850" y="3638550"/>
            <a:ext cx="7888986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你的项目:静态展示页 + 动态对话后端,正好一静一动。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前端三件套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· CSS · JavaScript —— 网页由什么组成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一句话:HTML 搭骨架,CSS 化妆,JS 让它动起来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前端三件套 · THE TRIO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盖房子的比喻:结构 · 装修 · 电路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5049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结构/骨架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房子的墙和房间:标题、按钮、输入框在哪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5049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CSS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外观/装修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刷漆铺地板:颜色、字号、排版、圆角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50495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JAVASCRIPT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行为/电路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按开关有反应:点击、发消息、调后端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你的运行示例 frontend/index.html 里,这三样都在一个文件里——一会儿逐个拆给你看。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W2 · HTML 骨架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HTML:用「标签」把内容装进「盒子」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3924300" cy="142875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3750183" cy="135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&lt;header&gt;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&lt;h1&gt;考前3分钟&lt;/h1&gt;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&lt;/header&gt;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&lt;form&gt;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&lt;input placeholder="说说"&gt;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&lt;button&gt;发送&lt;/button&gt;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&lt;/form&gt;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86300" y="1676400"/>
            <a:ext cx="400278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三个词看懂 HTML: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1962150"/>
            <a:ext cx="39243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标签 tag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:&lt;button&gt; 一对,包住内容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元素 element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:一个完整的盒子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属性 attr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:placeholder / id / class,给盒子加设定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6300" y="3048000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↑ 这就是你运行示例 index.html 里真实的一段。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29000"/>
            <a:ext cx="3962400" cy="8382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3543300"/>
            <a:ext cx="37501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🤖 Claude Code 帮你做了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752850"/>
            <a:ext cx="37501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自动写好所有标签、嵌套、属性。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3429000"/>
            <a:ext cx="3962400" cy="8382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3543300"/>
            <a:ext cx="37501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👁 你要认得(会指挥)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752850"/>
            <a:ext cx="375018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看得懂 &lt;button&gt;/&lt;input&gt; 大概是什么,能说"加一个危机求助按钮"。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W3 · CSS 外观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CSS:给盒子「化妆」和「排版」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400278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三件事: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962150"/>
            <a:ext cx="39243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选择器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:选中哪些盒子(按 class/标签)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盒模型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:每个盒子有内边距/边框/外边距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布局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:flex(自动排队)vs 绝对定位(指哪放哪)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3105150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颜色用 #1A365D 这种十六进制;字号用 px。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86300" y="1676400"/>
            <a:ext cx="3924300" cy="142875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9650" y="1771650"/>
            <a:ext cx="3750183" cy="116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.btn {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background: #C2410C;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color: white;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border-radius: 10px;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padding: 10px 18px;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29000"/>
            <a:ext cx="3962400" cy="8382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3543300"/>
            <a:ext cx="37501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🤖 Claude Code 帮你做了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752850"/>
            <a:ext cx="37501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自动写全部样式,还能一句话改配色/圆角。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3429000"/>
            <a:ext cx="3962400" cy="8382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3543300"/>
            <a:ext cx="37501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👁 你要认得(会指挥)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752850"/>
            <a:ext cx="37501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认得 color/background/padding,能说"配色换成温暖治愈风"。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W4 · JAVASCRIPT 交互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JavaScript:让网页「动」起来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400278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三个基本功: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962150"/>
            <a:ext cx="39243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变量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:存东西(如聊天历史 history)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函数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:一段可反复调用的动作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:用户点击(onclick)、提交(onsubmit)触发函数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3105150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DOM = JS 操作页面的方式(增删改盒子)。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86300" y="1676400"/>
            <a:ext cx="3924300" cy="1428750"/>
          </a:xfrm>
          <a:prstGeom prst="roundRect">
            <a:avLst>
              <a:gd name="adj" fmla="val 4000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19650" y="1771650"/>
            <a:ext cx="3750183" cy="116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form.onsubmit = () =&gt; {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const t = inp.value;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sendMsg(t); // 调后端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// ← index.html 里真有这段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290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下一页看 JS 最关键的一招:fetch —— 网页怎么「向后端打电话」。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W4 · FETCH:前端 → 后端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fetch:网页向后端「打电话」问答案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3924300" cy="1600200"/>
          </a:xfrm>
          <a:prstGeom prst="roundRect">
            <a:avLst>
              <a:gd name="adj" fmla="val 3571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3750183" cy="13595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const r = await fetch(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BACKEND + "/api/chat",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{ method:"POST",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body: JSON.stringify(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{ messages: history }) }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);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const data = await r.json();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86300" y="1676400"/>
            <a:ext cx="400278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1962150"/>
            <a:ext cx="39243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前端把用户的话 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发给后端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/api/chat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后端跑 agent、回一段 reply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前端把 reply 显示成气泡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6300" y="2914650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这就是你运行示例前端 sendMsg() 做的事。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29000"/>
            <a:ext cx="3962400" cy="8382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800" y="3543300"/>
            <a:ext cx="37501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🤖 Claude Code 帮你做了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752850"/>
            <a:ext cx="37501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写好 fetch、错误处理、降级。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3429000"/>
            <a:ext cx="3962400" cy="8382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00600" y="3543300"/>
            <a:ext cx="3750183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👁 你要认得(会指挥)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00600" y="3752850"/>
            <a:ext cx="375018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认得 fetch = 调后端;能说"后端连不上要有兜底,别白屏"。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数据怎么在网上传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 · API · 请求响应 —— 前后端如何对话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 是普通话,API 是菜单,状态码是回执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W5 · JSON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JSON:前端和后端之间的「普通话」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3924300" cy="1333500"/>
          </a:xfrm>
          <a:prstGeom prst="roundRect">
            <a:avLst>
              <a:gd name="adj" fmla="val 4286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3750183" cy="116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{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"messages": [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{"role":"user",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"content":"我好紧张"}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]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686300" y="1676400"/>
            <a:ext cx="400278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JSON 就是「键: 值」清单: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86300" y="1981200"/>
            <a:ext cx="39243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人和机器都读得懂的通用格式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前端发 JSON、后端回 JSON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你在 1_claude_code_basic 见过它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686300" y="2876550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认得大括号 { } 和引号里的 key,就够了。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3528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你的 agent 输出协议就是 JSON:{"reply":"..."} 或 {"tool":"..."}。前后端靠它对齐。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8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W5 · API 与 REST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API:后端对外的「菜单」,点什么给什么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38300"/>
            <a:ext cx="25717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38300"/>
            <a:ext cx="38100" cy="14478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API = 接口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后端开放的"点单窗口"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前端照菜单点,后端照单做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38300"/>
            <a:ext cx="25717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38300"/>
            <a:ext cx="38100" cy="144780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端点 ENDPOINT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一道菜的地址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/api/chat 对话 · /api/health 体检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38300"/>
            <a:ext cx="2571750" cy="144780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38300"/>
            <a:ext cx="38100" cy="144780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0975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 METHOD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0025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怎么点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24790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GET 取数据 · POST 提交数据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219450"/>
            <a:ext cx="8077200" cy="742950"/>
          </a:xfrm>
          <a:prstGeom prst="rect">
            <a:avLst/>
          </a:prstGeom>
          <a:solidFill>
            <a:srgbClr val="EAF0F6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3352800"/>
            <a:ext cx="7888986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REST = 一套大家都遵守的"点单规矩"(用 URL + GET/POST 表达要做什么)。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704850" y="3638550"/>
            <a:ext cx="7888986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你运行示例的后端就开了两道菜:POST /api/chat(聊天)、GET /api/health(体检)。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8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W5 · 状态码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状态码:后端给你的「回执」——看懂报错第一步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3830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38300"/>
            <a:ext cx="38100" cy="47625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1762125"/>
            <a:ext cx="116586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2D7D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200</a:t>
            </a:r>
            <a:endParaRPr lang="en-US" sz="1275" dirty="0"/>
          </a:p>
        </p:txBody>
      </p:sp>
      <p:sp>
        <p:nvSpPr>
          <p:cNvPr id="8" name="Text 6"/>
          <p:cNvSpPr/>
          <p:nvPr/>
        </p:nvSpPr>
        <p:spPr>
          <a:xfrm>
            <a:off x="1962150" y="1771650"/>
            <a:ext cx="194310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962400" y="1771650"/>
            <a:ext cx="4546854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一切正常,拿到结果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33400" y="219075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190750"/>
            <a:ext cx="38100" cy="4762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2314575"/>
            <a:ext cx="116586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400 / 401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1962150" y="2324100"/>
            <a:ext cx="194310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你发的请求有问题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62400" y="2324100"/>
            <a:ext cx="4546854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参数错 / 没权限(如 key 错)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33400" y="274320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2743200"/>
            <a:ext cx="38100" cy="4762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850" y="2867025"/>
            <a:ext cx="116586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404</a:t>
            </a:r>
            <a:endParaRPr lang="en-US" sz="1275" dirty="0"/>
          </a:p>
        </p:txBody>
      </p:sp>
      <p:sp>
        <p:nvSpPr>
          <p:cNvPr id="18" name="Text 16"/>
          <p:cNvSpPr/>
          <p:nvPr/>
        </p:nvSpPr>
        <p:spPr>
          <a:xfrm>
            <a:off x="1962150" y="2876550"/>
            <a:ext cx="194310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找不到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962400" y="2876550"/>
            <a:ext cx="4546854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地址写错 / 页面或端点不存在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29565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00" y="3295650"/>
            <a:ext cx="38100" cy="476250"/>
          </a:xfrm>
          <a:prstGeom prst="rect">
            <a:avLst/>
          </a:prstGeom>
          <a:solidFill>
            <a:srgbClr val="B0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4850" y="3419475"/>
            <a:ext cx="1165860" cy="218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1"/>
              </a:lnSpc>
              <a:buNone/>
            </a:pPr>
            <a:r>
              <a:rPr lang="en-US" sz="1275" b="1" dirty="0">
                <a:solidFill>
                  <a:srgbClr val="B03A2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500</a:t>
            </a:r>
            <a:endParaRPr lang="en-US" sz="1275" dirty="0"/>
          </a:p>
        </p:txBody>
      </p:sp>
      <p:sp>
        <p:nvSpPr>
          <p:cNvPr id="23" name="Text 21"/>
          <p:cNvSpPr/>
          <p:nvPr/>
        </p:nvSpPr>
        <p:spPr>
          <a:xfrm>
            <a:off x="1962150" y="3429000"/>
            <a:ext cx="194310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后端自己崩了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962400" y="3429000"/>
            <a:ext cx="4546854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服务器内部错误,去看后端日志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533400" y="38671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记住这四类,报错时你就能对 Claude Code 说清"是 404 还是 500",它才好帮你修。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8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前端框架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· Next.js —— 什么时候纯 HTML 不够用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框架是给复杂界面用的"工具箱";简单的用纯静态就好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W6 · 为什么要框架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 HTML 够用,直到它不够用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EAF3EC"/>
          </a:solidFill>
          <a:ln w="9525">
            <a:solidFill>
              <a:srgbClr val="2D7D4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纯静态 HTML 就够(你的默认)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一两个页面、一个聊天框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展示页、作品集、简单 demo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一个 index.html + GitHub Pages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该上框架了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很多页面、要登录、要管很多状态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重复的界面块(卡片列表…)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要"记住"用户、复杂交互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533400" y="4095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原则:能静态就静态。别一上来就上重框架——那是给复杂项目的。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8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W6 · REACT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React:把界面拆成可复用的「积木」(组件)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5049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组件 COMPONENT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一块可复用的界面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一个"消息气泡"写一次,到处用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5049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PROPS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给组件传参数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同一个气泡,传不同文字/颜色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50495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STATE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组件的"记忆"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输入框里的字、聊天历史,变了自动重画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React 是目前最主流的前端库(2026 最新 React 19)。你不用手写,但要认得"组件/状态"这两个词。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8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W6 · NEXT.JS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Next.js:React 的「全能版」,前后端一体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4002786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它多给你什么: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33400" y="1981200"/>
            <a:ext cx="3924300" cy="79429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页面路由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:多页面自动管理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前后端一体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:一个项目里既有界面又有 API</a:t>
            </a:r>
            <a:endParaRPr lang="en-US" sz="1050" dirty="0"/>
          </a:p>
          <a:p>
            <a:pPr algn="l" marL="85725" indent="-85725">
              <a:lnSpc>
                <a:spcPts val="1785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SSR</a:t>
            </a:r>
            <a:pPr algn="l" indent="0" marL="0">
              <a:lnSpc>
                <a:spcPts val="1785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:服务器先渲染好,首屏更快、更利于 SEO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33400" y="3067050"/>
            <a:ext cx="400278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最新 Next.js 16(默认 Turbopack、React 编译器)。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86300" y="1676400"/>
            <a:ext cx="3924300" cy="1600200"/>
          </a:xfrm>
          <a:prstGeom prst="rect">
            <a:avLst/>
          </a:prstGeom>
          <a:solidFill>
            <a:srgbClr val="F6F4E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57750" y="1828800"/>
            <a:ext cx="2914650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三个真实项目怎么选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4857750" y="2114550"/>
            <a:ext cx="3543300" cy="764381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706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小智:Next.js(静态导出)</a:t>
            </a:r>
            <a:endParaRPr lang="en-US" sz="975" dirty="0"/>
          </a:p>
          <a:p>
            <a:pPr algn="l" marL="85725" indent="-85725">
              <a:lnSpc>
                <a:spcPts val="1706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Leo:Next.js 14 全栈 + 账号</a:t>
            </a:r>
            <a:endParaRPr lang="en-US" sz="975" dirty="0"/>
          </a:p>
          <a:p>
            <a:pPr algn="l" marL="85725" indent="-85725">
              <a:lnSpc>
                <a:spcPts val="1706"/>
              </a:lnSpc>
              <a:spcAft>
                <a:spcPts val="300"/>
              </a:spcAft>
              <a:buSzPct val="100000"/>
              <a:buChar char="•"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HEAI:纯 vanilla HTML(够简单)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3400" y="34290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看出规律没?越复杂 → 越可能上 Next.js;够简单 → 纯 HTML 反而更省心。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8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后端与服务器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Node.js · Python · FastAPI —— 藏 key、跑逻辑、连模型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 = 一直在线、替你保管秘密、干重活的那台机器</a:t>
            </a:r>
            <a:endParaRPr lang="en-US" sz="9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W7 · 后端用什么写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后端:一个「一直在线接电话」的程序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3924300" cy="2209800"/>
          </a:xfrm>
          <a:prstGeom prst="rect">
            <a:avLst/>
          </a:prstGeom>
          <a:solidFill>
            <a:srgbClr val="EAF0F6"/>
          </a:solidFill>
          <a:ln w="9525">
            <a:solidFill>
              <a:srgbClr val="1A365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9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Node.js(用 JavaScript 写后端)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239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前端也是 JS → 一种语言通吃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Next.js/Vercel 的原生路线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生态大、部署方便</a:t>
            </a:r>
            <a:endParaRPr lang="en-US" sz="1088" dirty="0"/>
          </a:p>
        </p:txBody>
      </p:sp>
      <p:sp>
        <p:nvSpPr>
          <p:cNvPr id="8" name="Text 6"/>
          <p:cNvSpPr/>
          <p:nvPr/>
        </p:nvSpPr>
        <p:spPr>
          <a:xfrm>
            <a:off x="4686300" y="1695450"/>
            <a:ext cx="3924300" cy="2209800"/>
          </a:xfrm>
          <a:prstGeom prst="rect">
            <a:avLst/>
          </a:prstGeom>
          <a:solidFill>
            <a:srgbClr val="FBF1EC"/>
          </a:solidFill>
          <a:ln w="9525">
            <a:solidFill>
              <a:srgbClr val="C2410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76800" y="1866900"/>
            <a:ext cx="349758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Python + FastAPI(你的默认)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76800" y="2171700"/>
            <a:ext cx="3505200" cy="818406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你在 0_agent_basic 已经会 Python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= 最短路径把 Python 变 API</a:t>
            </a:r>
            <a:endParaRPr lang="en-US" sz="1088" dirty="0"/>
          </a:p>
          <a:p>
            <a:pPr algn="l" marL="85725" indent="-85725">
              <a:lnSpc>
                <a:spcPts val="1849"/>
              </a:lnSpc>
              <a:spcAft>
                <a:spcPts val="300"/>
              </a:spcAft>
              <a:buSzPct val="100000"/>
              <a:buChar char="•"/>
            </a:pPr>
            <a:r>
              <a:rPr lang="en-US" sz="108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Railway 自动识别、= HEAI 同款</a:t>
            </a:r>
            <a:endParaRPr lang="en-US" sz="1088" dirty="0"/>
          </a:p>
        </p:txBody>
      </p:sp>
      <p:sp>
        <p:nvSpPr>
          <p:cNvPr id="11" name="Text 9"/>
          <p:cNvSpPr/>
          <p:nvPr/>
        </p:nvSpPr>
        <p:spPr>
          <a:xfrm>
            <a:off x="533400" y="4095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两条路都行。本课默认 Python+FastAPI,因为你已经会 Python、心智不用切换。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8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W7 · FASTAPI 拆解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你运行示例的后端,其实就几行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76400"/>
            <a:ext cx="5219700" cy="1676400"/>
          </a:xfrm>
          <a:prstGeom prst="roundRect">
            <a:avLst>
              <a:gd name="adj" fmla="val 3409"/>
            </a:avLst>
          </a:prstGeom>
          <a:solidFill>
            <a:srgbClr val="1E2A3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6750" y="1771650"/>
            <a:ext cx="5071491" cy="1942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app = FastAPI()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@app.get("/api/health")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def health():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return {"status": "ok"}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@app.post("/api/chat")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def chat(body):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reply = run_harness(body.messages)</a:t>
            </a:r>
            <a:endParaRPr lang="en-US" sz="900" dirty="0"/>
          </a:p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E8EEF4"/>
                </a:solidFill>
                <a:latin typeface="SF Mono" pitchFamily="34" charset="0"/>
                <a:ea typeface="SF Mono" pitchFamily="34" charset="-122"/>
                <a:cs typeface="SF Mono" pitchFamily="34" charset="-120"/>
              </a:rPr>
              <a:t> return {"reply": reply}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905500" y="1676400"/>
            <a:ext cx="2759202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认得三样: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05500" y="1943100"/>
            <a:ext cx="2705100" cy="721519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1594"/>
              </a:lnSpc>
              <a:spcAft>
                <a:spcPts val="300"/>
              </a:spcAft>
              <a:buSzPct val="100000"/>
              <a:buChar char="•"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@app.get/post = 开一道菜</a:t>
            </a:r>
            <a:endParaRPr lang="en-US" sz="938" dirty="0"/>
          </a:p>
          <a:p>
            <a:pPr algn="l" marL="85725" indent="-85725">
              <a:lnSpc>
                <a:spcPts val="1594"/>
              </a:lnSpc>
              <a:spcAft>
                <a:spcPts val="300"/>
              </a:spcAft>
              <a:buSzPct val="100000"/>
              <a:buChar char="•"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里面 = 收到请求做什么</a:t>
            </a:r>
            <a:endParaRPr lang="en-US" sz="938" dirty="0"/>
          </a:p>
          <a:p>
            <a:pPr algn="l" marL="85725" indent="-85725">
              <a:lnSpc>
                <a:spcPts val="1594"/>
              </a:lnSpc>
              <a:spcAft>
                <a:spcPts val="300"/>
              </a:spcAft>
              <a:buSzPct val="100000"/>
              <a:buChar char="•"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return {…} = 回 JSON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5905500" y="3048000"/>
            <a:ext cx="275920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从 os.environ 读,不写死。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34480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← 这就是 backend/main.py 的骨架。后端职责:藏 key、跑你的 agent(harness)、连模型。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2" name="Text 1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8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W7 · 数据与存储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要不要数据库?多数课堂项目:先不要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50495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先用文件/内存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够简单就别上数据库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端到端示例:日记存文件即可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5049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何时要数据库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要长期记住很多用户/历史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账号、跨设备、大量数据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5049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SUPABASE 一瞥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最省事的托管数据库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Leo 用它存账号+对话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原则:先跑起来,别过早上数据库。真需要了(要账号/要长期存),再加 Supabase 这类托管方案。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8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42875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b="1" dirty="0">
                <a:solidFill>
                  <a:srgbClr val="8FB0C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PART 06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33400" y="18669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2038350"/>
            <a:ext cx="8238744" cy="565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5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工具链 · 报错 · 红线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33400" y="2762250"/>
            <a:ext cx="8238744" cy="2442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4"/>
              </a:lnSpc>
              <a:buNone/>
            </a:pPr>
            <a:r>
              <a:rPr lang="en-US" sz="1425" dirty="0">
                <a:solidFill>
                  <a:srgbClr val="C6D6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/ npm·pip / git / DevTools —— 你要认得的工程环境</a:t>
            </a:r>
            <a:endParaRPr lang="en-US" sz="1425" dirty="0"/>
          </a:p>
        </p:txBody>
      </p:sp>
      <p:sp>
        <p:nvSpPr>
          <p:cNvPr id="7" name="Text 5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FB0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最后一块拼图:看懂工具、读懂报错、守住安全</a:t>
            </a:r>
            <a:endParaRPr lang="en-US" sz="9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W8 · 工程工具链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这些黑框框和命令,是什么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5049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终端 TERMINAL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打字给电脑下命令的黑框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uvicorn … / npm run dev 都在这跑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5049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包管理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一键装别人写好的轮子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npm(JS)· pip(Python)· requirements.txt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504950"/>
          </a:xfrm>
          <a:prstGeom prst="rect">
            <a:avLst/>
          </a:prstGeom>
          <a:solidFill>
            <a:srgbClr val="2D7D4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 / GITHUB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代码的存档与云端仓库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push 上去,Pages/Railway 才能部署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你不用记命令——Claude Code 会给你。但要认得:这是终端、那是在装依赖、那是在提交代码。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26</a:t>
            </a:r>
            <a:endParaRPr lang="en-US" sz="8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W8 · 浏览器 DEVTOOLS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 F12:排错的「透视镜」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95450"/>
            <a:ext cx="38100" cy="15049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858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查看源代码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右键→查看源码</a:t>
            </a:r>
            <a:endParaRPr lang="en-US" sz="1163" dirty="0"/>
          </a:p>
        </p:txBody>
      </p:sp>
      <p:sp>
        <p:nvSpPr>
          <p:cNvPr id="9" name="Text 7"/>
          <p:cNvSpPr/>
          <p:nvPr/>
        </p:nvSpPr>
        <p:spPr>
          <a:xfrm>
            <a:off x="6858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验证前端有没有泄漏 key(能看到=公开)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32766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6600" y="1695450"/>
            <a:ext cx="38100" cy="1504950"/>
          </a:xfrm>
          <a:prstGeom prst="rect">
            <a:avLst/>
          </a:prstGeom>
          <a:solidFill>
            <a:srgbClr val="B0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290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CONSOLE 控制台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34290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 JS 报错的地方</a:t>
            </a:r>
            <a:endParaRPr lang="en-US" sz="1163" dirty="0"/>
          </a:p>
        </p:txBody>
      </p:sp>
      <p:sp>
        <p:nvSpPr>
          <p:cNvPr id="14" name="Text 12"/>
          <p:cNvSpPr/>
          <p:nvPr/>
        </p:nvSpPr>
        <p:spPr>
          <a:xfrm>
            <a:off x="34290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红字报错先截图给 Claude Code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19800" y="1695450"/>
            <a:ext cx="2571750" cy="15049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019800" y="1695450"/>
            <a:ext cx="38100" cy="15049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72200" y="1866900"/>
            <a:ext cx="237058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NETWORK 网络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6172200" y="2057400"/>
            <a:ext cx="2370582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163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看每个请求成没成</a:t>
            </a:r>
            <a:endParaRPr lang="en-US" sz="1163" dirty="0"/>
          </a:p>
        </p:txBody>
      </p:sp>
      <p:sp>
        <p:nvSpPr>
          <p:cNvPr id="19" name="Text 17"/>
          <p:cNvSpPr/>
          <p:nvPr/>
        </p:nvSpPr>
        <p:spPr>
          <a:xfrm>
            <a:off x="6172200" y="2305050"/>
            <a:ext cx="237058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 /api/chat 是 200 还是 404/500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33400" y="3886200"/>
            <a:ext cx="8077200" cy="41910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4850" y="4000500"/>
            <a:ext cx="7888986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「前端是公开的」不是口号:DevTools 右键就能看到你前端的一切 —— 所以 key 只能在后端。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27</a:t>
            </a:r>
            <a:endParaRPr lang="en-US" sz="82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W8 · 看懂常见报错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四个最常见的坑,一眼认出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1925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33400" y="1619250"/>
            <a:ext cx="38100" cy="4762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4850" y="1743075"/>
            <a:ext cx="213741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白屏 / 转圈不动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914650" y="1704975"/>
            <a:ext cx="29146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前端崩了或后端没连上</a:t>
            </a:r>
            <a:endParaRPr lang="en-US" sz="938" dirty="0"/>
          </a:p>
        </p:txBody>
      </p:sp>
      <p:sp>
        <p:nvSpPr>
          <p:cNvPr id="9" name="Text 7"/>
          <p:cNvSpPr/>
          <p:nvPr/>
        </p:nvSpPr>
        <p:spPr>
          <a:xfrm>
            <a:off x="2914650" y="1876425"/>
            <a:ext cx="561555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看 Console 红字 + Network 有没有失败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33400" y="217170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33400" y="2171700"/>
            <a:ext cx="38100" cy="4762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04850" y="2295525"/>
            <a:ext cx="213741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CORS 报错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14650" y="2257425"/>
            <a:ext cx="29146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后端没允许前端域名跨域</a:t>
            </a:r>
            <a:endParaRPr lang="en-US" sz="938" dirty="0"/>
          </a:p>
        </p:txBody>
      </p:sp>
      <p:sp>
        <p:nvSpPr>
          <p:cNvPr id="14" name="Text 12"/>
          <p:cNvSpPr/>
          <p:nvPr/>
        </p:nvSpPr>
        <p:spPr>
          <a:xfrm>
            <a:off x="2914650" y="2428875"/>
            <a:ext cx="561555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后端 CORS_ORIGINS 加上前端网址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3400" y="272415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3400" y="2724150"/>
            <a:ext cx="38100" cy="476250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04850" y="2847975"/>
            <a:ext cx="213741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914650" y="2809875"/>
            <a:ext cx="29146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地址/端点写错</a:t>
            </a:r>
            <a:endParaRPr lang="en-US" sz="938" dirty="0"/>
          </a:p>
        </p:txBody>
      </p:sp>
      <p:sp>
        <p:nvSpPr>
          <p:cNvPr id="19" name="Text 17"/>
          <p:cNvSpPr/>
          <p:nvPr/>
        </p:nvSpPr>
        <p:spPr>
          <a:xfrm>
            <a:off x="2914650" y="2981325"/>
            <a:ext cx="561555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检查前端 fetch 的 URL 对不对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3400" y="3276600"/>
            <a:ext cx="807720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33400" y="3276600"/>
            <a:ext cx="38100" cy="476250"/>
          </a:xfrm>
          <a:prstGeom prst="rect">
            <a:avLst/>
          </a:prstGeom>
          <a:solidFill>
            <a:srgbClr val="B03A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04850" y="3400425"/>
            <a:ext cx="2137410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500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914650" y="3362325"/>
            <a:ext cx="2914650" cy="1547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9"/>
              </a:lnSpc>
              <a:buNone/>
            </a:pPr>
            <a:r>
              <a:rPr lang="en-US" sz="938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后端内部崩了</a:t>
            </a:r>
            <a:endParaRPr lang="en-US" sz="938" dirty="0"/>
          </a:p>
        </p:txBody>
      </p:sp>
      <p:sp>
        <p:nvSpPr>
          <p:cNvPr id="24" name="Text 22"/>
          <p:cNvSpPr/>
          <p:nvPr/>
        </p:nvSpPr>
        <p:spPr>
          <a:xfrm>
            <a:off x="2914650" y="3533775"/>
            <a:ext cx="5615559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 去 Railway 看后端日志找异常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3400" y="38481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看懂报错 = 会指挥的一半:你能对 AI 说清"哪一层、什么错",它就修得快。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28</a:t>
            </a:r>
            <a:endParaRPr lang="en-US" sz="8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400" y="361950"/>
            <a:ext cx="8238744" cy="154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W8 · 结课清单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400" y="571500"/>
            <a:ext cx="8238744" cy="34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44"/>
              </a:lnSpc>
              <a:buNone/>
            </a:pPr>
            <a:r>
              <a:rPr lang="en-US" sz="2325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「看懂 + 会指挥」你现在应该能做到</a:t>
            </a:r>
            <a:endParaRPr lang="en-US" sz="2325" dirty="0"/>
          </a:p>
        </p:txBody>
      </p:sp>
      <p:sp>
        <p:nvSpPr>
          <p:cNvPr id="4" name="Text 2"/>
          <p:cNvSpPr/>
          <p:nvPr/>
        </p:nvSpPr>
        <p:spPr>
          <a:xfrm>
            <a:off x="533400" y="1066800"/>
            <a:ext cx="51435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19250"/>
            <a:ext cx="8077200" cy="2343150"/>
          </a:xfrm>
          <a:prstGeom prst="rect">
            <a:avLst/>
          </a:prstGeom>
          <a:solidFill>
            <a:srgbClr val="FFFFFF"/>
          </a:solidFill>
          <a:ln w="9525">
            <a:solidFill>
              <a:srgbClr val="E3E1D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62000" y="1809750"/>
            <a:ext cx="3733800" cy="914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说得清前端/后端/模型各是什么、住哪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看懂一个网页的 HTML/CSS/JS 三段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 fetch = 前端调后端 /api/chat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91050" y="1809750"/>
            <a:ext cx="3733800" cy="914400"/>
          </a:xfrm>
          <a:prstGeom prst="rect">
            <a:avLst/>
          </a:prstGeom>
          <a:noFill/>
          <a:ln/>
        </p:spPr>
        <p:txBody>
          <a:bodyPr wrap="square" lIns="85725" tIns="0" rIns="0" bIns="0" rtlCol="0" anchor="t"/>
          <a:lstStyle/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认得 JSON、API、200/404/500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知道何时纯静态、何时上框架</a:t>
            </a:r>
            <a:endParaRPr lang="en-US" sz="1050" dirty="0"/>
          </a:p>
          <a:p>
            <a:pPr algn="l" marL="85725" indent="-85725">
              <a:lnSpc>
                <a:spcPts val="21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D7D4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报错时看 Console/Network,说清哪层错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400" y="4076700"/>
            <a:ext cx="8077200" cy="247650"/>
          </a:xfrm>
          <a:prstGeom prst="rect">
            <a:avLst/>
          </a:prstGeom>
          <a:solidFill>
            <a:srgbClr val="FBECEA"/>
          </a:solidFill>
          <a:ln w="9525">
            <a:solidFill>
              <a:srgbClr val="B03A2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" y="4124325"/>
            <a:ext cx="7947279" cy="160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938" b="1" dirty="0">
                <a:solidFill>
                  <a:srgbClr val="B03A2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🔑 唯一铁律:前端是公开的,key 只能待在后端。</a:t>
            </a:r>
            <a:endParaRPr lang="en-US" sz="938" dirty="0"/>
          </a:p>
        </p:txBody>
      </p:sp>
      <p:sp>
        <p:nvSpPr>
          <p:cNvPr id="10" name="Text 8"/>
          <p:cNvSpPr/>
          <p:nvPr/>
        </p:nvSpPr>
        <p:spPr>
          <a:xfrm>
            <a:off x="533400" y="4876800"/>
            <a:ext cx="5052060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14"/>
              </a:lnSpc>
              <a:buNone/>
            </a:pPr>
            <a:r>
              <a:rPr lang="en-US" sz="82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web_basics · AI 时代 web 技术栈基础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7794498" y="4876800"/>
            <a:ext cx="816102" cy="141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14"/>
              </a:lnSpc>
              <a:buNone/>
            </a:pPr>
            <a:r>
              <a:rPr lang="en-US" sz="825" b="1" dirty="0">
                <a:solidFill>
                  <a:srgbClr val="8A8A8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29</a:t>
            </a:r>
            <a:endParaRPr lang="en-US" sz="8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7150"/>
          </a:xfrm>
          <a:prstGeom prst="rect">
            <a:avLst/>
          </a:prstGeom>
          <a:solidFill>
            <a:srgbClr val="1A365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33400" y="110490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带走一句话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533400" y="1447800"/>
            <a:ext cx="685800" cy="28575"/>
          </a:xfrm>
          <a:prstGeom prst="rect">
            <a:avLst/>
          </a:prstGeom>
          <a:solidFill>
            <a:srgbClr val="C2410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33400" y="1695450"/>
            <a:ext cx="7850124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「你不用会写代码,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33400" y="2133600"/>
            <a:ext cx="7850124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2550" b="1" dirty="0">
                <a:solidFill>
                  <a:srgbClr val="2B2B2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但要看懂 AI 写了什么、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533400" y="2571750"/>
            <a:ext cx="7850124" cy="42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66"/>
              </a:lnSpc>
              <a:buNone/>
            </a:pPr>
            <a:r>
              <a:rPr lang="en-US" sz="2550" b="1" dirty="0">
                <a:solidFill>
                  <a:srgbClr val="C2410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知道每一层是什么、错在哪。」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533400" y="3429000"/>
            <a:ext cx="8238744" cy="20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看懂了这一层,你就能真正「指挥」Claude Code,而不是被它牵着走。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3400" y="3848100"/>
            <a:ext cx="8238744" cy="1799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50" b="1" dirty="0">
                <a:solidFill>
                  <a:srgbClr val="1A365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下一步:回到 2_dev_deploy_guide 的 B1–B4,把你的项目真正做出来。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33400" y="4476750"/>
            <a:ext cx="8238744" cy="1671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16"/>
              </a:lnSpc>
              <a:buNone/>
            </a:pPr>
            <a:r>
              <a:rPr lang="en-US" sz="975" dirty="0">
                <a:solidFill>
                  <a:srgbClr val="8A8A8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郑先隽 · 北京师范大学心理学部 · 人本 AI 设计与创新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2026-07-08T13:46:31Z</dcterms:created>
  <dcterms:modified xsi:type="dcterms:W3CDTF">2026-07-08T13:46:31Z</dcterms:modified>
</cp:coreProperties>
</file>